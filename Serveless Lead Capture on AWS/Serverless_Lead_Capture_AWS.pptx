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0"/>
            <a:ext cx="109728" cy="2194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Serverless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on AWS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serverless architecture using S3, Lambda, API Gateway,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DynamoDB, SES, CloudFront &amp; Route 53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508760" cy="292608"/>
          </a:xfrm>
          <a:prstGeom prst="rect">
            <a:avLst/>
          </a:prstGeom>
          <a:solidFill>
            <a:srgbClr val="243B5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3977640"/>
            <a:ext cx="1508760" cy="292608"/>
          </a:xfrm>
          <a:prstGeom prst="rect">
            <a:avLst/>
          </a:prstGeom>
          <a:solidFill>
            <a:srgbClr val="243B5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39776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51376" y="3977640"/>
            <a:ext cx="1508760" cy="292608"/>
          </a:xfrm>
          <a:prstGeom prst="rect">
            <a:avLst/>
          </a:prstGeom>
          <a:solidFill>
            <a:srgbClr val="243B5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39776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15584" y="3977640"/>
            <a:ext cx="1508760" cy="292608"/>
          </a:xfrm>
          <a:prstGeom prst="rect">
            <a:avLst/>
          </a:prstGeom>
          <a:solidFill>
            <a:srgbClr val="243B5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5584" y="39776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79792" y="3977640"/>
            <a:ext cx="1508760" cy="292608"/>
          </a:xfrm>
          <a:prstGeom prst="rect">
            <a:avLst/>
          </a:prstGeom>
          <a:solidFill>
            <a:srgbClr val="243B5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39776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Tetteh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09728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78992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serverless lead capture system for an eBook website. When a visitor clicks "Download Ebook", their contact details are captured, stored in DynamoDB, and an email notification is sent to the admin via SES — all without managing any servers.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030095" cy="76771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2030095" cy="76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8780" y="2441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b="1" dirty="0">
              <a:solidFill>
                <a:srgbClr val="0F1B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8780" y="2629027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6395" y="4044315"/>
            <a:ext cx="2029460" cy="7886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6395" y="4044315"/>
            <a:ext cx="2028825" cy="76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555" y="4154043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00" b="1" dirty="0">
              <a:solidFill>
                <a:srgbClr val="0F1B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3555" y="4483227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download via SES</a:t>
            </a:r>
            <a:endParaRPr 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41600" y="3213735"/>
            <a:ext cx="2035175" cy="7080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41600" y="3213735"/>
            <a:ext cx="2034540" cy="76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8760" y="3323463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00" b="1" dirty="0">
              <a:solidFill>
                <a:srgbClr val="0F1B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38120" y="351104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in DynamoDB</a:t>
            </a:r>
            <a:endParaRPr 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3230880"/>
            <a:ext cx="2030095" cy="67945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6395" y="3230880"/>
            <a:ext cx="2030095" cy="76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780" y="337616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Performance</a:t>
            </a:r>
            <a:endParaRPr lang="en-US" sz="1000" b="1" dirty="0">
              <a:solidFill>
                <a:srgbClr val="0F1B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98780" y="35250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 delivery</a:t>
            </a:r>
            <a:endParaRPr 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41600" y="2331720"/>
            <a:ext cx="2035810" cy="7886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41600" y="2331720"/>
            <a:ext cx="2035175" cy="76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8760" y="24414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b="1" dirty="0">
              <a:solidFill>
                <a:srgbClr val="0F1B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26690" y="2688717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active users, 10–15 downloads/day</a:t>
            </a:r>
            <a:endParaRPr 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642870" y="4044315"/>
            <a:ext cx="2034540" cy="768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42870" y="4044315"/>
            <a:ext cx="2034540" cy="76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0030" y="4154043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b="1" dirty="0">
              <a:solidFill>
                <a:srgbClr val="0F1B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70810" y="4356227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 on all requests</a:t>
            </a:r>
            <a:endParaRPr 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3" name="Picture 32" descr="Screenshot from 2025-11-09 09-36-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240" y="2526030"/>
            <a:ext cx="4225925" cy="1595120"/>
          </a:xfrm>
          <a:prstGeom prst="rect">
            <a:avLst/>
          </a:prstGeom>
        </p:spPr>
      </p:pic>
      <p:sp>
        <p:nvSpPr>
          <p:cNvPr id="94" name="Text 30"/>
          <p:cNvSpPr/>
          <p:nvPr/>
        </p:nvSpPr>
        <p:spPr>
          <a:xfrm>
            <a:off x="5896610" y="412064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" alt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" altLang="en-US" sz="1000" dirty="0">
              <a:solidFill>
                <a:srgbClr val="2D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78992"/>
            <a:ext cx="822960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+ bucket policies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1078992"/>
            <a:ext cx="822960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07899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03120" y="13898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81051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for low-latency delivery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078992"/>
            <a:ext cx="822960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07899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0" y="13898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181051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management &amp; custom domain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100584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59552" y="1078992"/>
            <a:ext cx="822960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07899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77840" y="13898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81051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certificate issuance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00584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96912" y="1078992"/>
            <a:ext cx="822960" cy="2194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07899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315200" y="13898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181051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 trigger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862072"/>
            <a:ext cx="822960" cy="2194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86207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" y="317296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59359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+ email dispatch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278892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84832" y="2862072"/>
            <a:ext cx="822960" cy="21945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286207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03120" y="317296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03120" y="359359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to admin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9040" y="278892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22192" y="2862072"/>
            <a:ext cx="822960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286207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0" y="317296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0" y="359359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storage for contact details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0" y="278892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59552" y="2862072"/>
            <a:ext cx="822960" cy="219456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286207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577840" y="317296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77840" y="359359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policies &amp; permissions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23760" y="2788920"/>
            <a:ext cx="160020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96912" y="2862072"/>
            <a:ext cx="822960" cy="219456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286207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315200" y="317296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15200" y="3593592"/>
            <a:ext cx="1444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754880"/>
            <a:ext cx="256032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7548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77440" y="4754880"/>
            <a:ext cx="256032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97480" y="47548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80560" y="4754880"/>
            <a:ext cx="256032" cy="1645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47548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83680" y="4754880"/>
            <a:ext cx="256032" cy="164592"/>
          </a:xfrm>
          <a:prstGeom prst="rect">
            <a:avLst/>
          </a:prstGeom>
          <a:solidFill>
            <a:srgbClr val="8BA3BF"/>
          </a:solidFill>
          <a:ln w="12700">
            <a:solidFill>
              <a:srgbClr val="8BA3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475488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783080" cy="1051560"/>
          </a:xfrm>
          <a:prstGeom prst="rect">
            <a:avLst/>
          </a:prstGeom>
          <a:solidFill>
            <a:srgbClr val="0F1B2D"/>
          </a:solidFill>
          <a:ln w="25400">
            <a:solidFill>
              <a:srgbClr val="4FC3F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78308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0020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0876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1097280"/>
            <a:ext cx="1783080" cy="1051560"/>
          </a:xfrm>
          <a:prstGeom prst="rect">
            <a:avLst/>
          </a:prstGeom>
          <a:solidFill>
            <a:srgbClr val="0F1B2D"/>
          </a:solidFill>
          <a:ln w="2540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097280"/>
            <a:ext cx="178308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2070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1581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via ACM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160020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50876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097280"/>
            <a:ext cx="1783080" cy="1051560"/>
          </a:xfrm>
          <a:prstGeom prst="rect">
            <a:avLst/>
          </a:prstGeom>
          <a:solidFill>
            <a:srgbClr val="0F1B2D"/>
          </a:solidFill>
          <a:ln w="25400">
            <a:solidFill>
              <a:srgbClr val="A78BF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1097280"/>
            <a:ext cx="178308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2070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1581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160020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50876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97280"/>
            <a:ext cx="1783080" cy="1051560"/>
          </a:xfrm>
          <a:prstGeom prst="rect">
            <a:avLst/>
          </a:prstGeom>
          <a:solidFill>
            <a:srgbClr val="0F1B2D"/>
          </a:solidFill>
          <a:ln w="254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097280"/>
            <a:ext cx="17830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207008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581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handler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9168" y="2148840"/>
            <a:ext cx="0" cy="45720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2487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2606040"/>
            <a:ext cx="1600200" cy="1005840"/>
          </a:xfrm>
          <a:prstGeom prst="rect">
            <a:avLst/>
          </a:prstGeom>
          <a:solidFill>
            <a:srgbClr val="0F1B2D"/>
          </a:solidFill>
          <a:ln w="1905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2606040"/>
            <a:ext cx="16002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2697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76672" y="30632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admin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40880" y="2606040"/>
            <a:ext cx="1600200" cy="1005840"/>
          </a:xfrm>
          <a:prstGeom prst="rect">
            <a:avLst/>
          </a:prstGeom>
          <a:solidFill>
            <a:srgbClr val="0F1B2D"/>
          </a:solidFill>
          <a:ln w="1905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2606040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697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14032" y="30632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contact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03520" y="3840480"/>
            <a:ext cx="1600200" cy="1005840"/>
          </a:xfrm>
          <a:prstGeom prst="rect">
            <a:avLst/>
          </a:prstGeom>
          <a:solidFill>
            <a:srgbClr val="0F1B2D"/>
          </a:solidFill>
          <a:ln w="19050">
            <a:solidFill>
              <a:srgbClr val="4FC3F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0" y="3840480"/>
            <a:ext cx="16002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39319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76672" y="4297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monitoring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40880" y="3840480"/>
            <a:ext cx="1600200" cy="1005840"/>
          </a:xfrm>
          <a:prstGeom prst="rect">
            <a:avLst/>
          </a:prstGeom>
          <a:solidFill>
            <a:srgbClr val="0F1B2D"/>
          </a:solidFill>
          <a:ln w="19050">
            <a:solidFill>
              <a:srgbClr val="A78BF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40880" y="3840480"/>
            <a:ext cx="1600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39319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14032" y="4297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3108960"/>
            <a:ext cx="137160" cy="0"/>
          </a:xfrm>
          <a:prstGeom prst="line">
            <a:avLst/>
          </a:prstGeom>
          <a:noFill/>
          <a:ln w="12700">
            <a:solidFill>
              <a:srgbClr val="8BA3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4343400"/>
            <a:ext cx="137160" cy="0"/>
          </a:xfrm>
          <a:prstGeom prst="line">
            <a:avLst/>
          </a:prstGeom>
          <a:noFill/>
          <a:ln w="12700">
            <a:solidFill>
              <a:srgbClr val="8BA3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2468880"/>
            <a:ext cx="4754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2468880"/>
            <a:ext cx="475488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253288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Summary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11480" y="2926080"/>
            <a:ext cx="448056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visits eBook site served from S3 via CloudFront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Route 53 routes domain → CloudFront distribution (HTTPS)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User fills form and clicks Download; JS triggers AJAX call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AJAX calls API Gateway endpoint (POST /contact)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API Gateway invokes Lambda function with form payload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Lambda sends email via SES + stores data in DynamoDB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CloudWatch logs all Lambda executions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18872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3716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69748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6974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43891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438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S3 Bucket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344168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 S3 bucket and configured it for static website hosting. Initially faced access restrictions — resolved by writing a bucket policy to allow public read access to objects.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777240"/>
            <a:ext cx="269748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777240"/>
            <a:ext cx="269748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914400"/>
            <a:ext cx="43891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914400"/>
            <a:ext cx="438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Website Files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344168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AWS CLI command `aws s3 sync . s3://bucketName` to upload all HTML, CSS, and JS files. Created a custom 404 error page for missing routes.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777240"/>
            <a:ext cx="269748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777240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914400"/>
            <a:ext cx="438912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914400"/>
            <a:ext cx="438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91440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SSL Certificate (ACM)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344168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 public certificate via AWS Certificate Manager for the custom domain. Validated it by creating a CNAME record in Route 53. Note: CloudFront only accepts certificates from us-east-1.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4224528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34640"/>
            <a:ext cx="422452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971800"/>
            <a:ext cx="438912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71800"/>
            <a:ext cx="438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2971800"/>
            <a:ext cx="35387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CloudFront Distribution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401568"/>
            <a:ext cx="395020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CloudFront distribution pointing to the S3 bucket. Attached the ACM certificate to enforce HTTPS. CloudFront caches content globally for low-latency delivery.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2834640"/>
            <a:ext cx="4224528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36008" y="2834640"/>
            <a:ext cx="4224528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6008" y="2971800"/>
            <a:ext cx="438912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2971800"/>
            <a:ext cx="438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4648" y="2971800"/>
            <a:ext cx="353872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DNS Setup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3401568"/>
            <a:ext cx="395020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Hosted Zone in Route 53 and added an A record (Alias) pointing the custom domain to the CloudFront distribution. Updated nameservers on the domain registrar.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Challenges &amp; Key Learnings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A record alias not pointing to S3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3716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9144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4300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S3 bucket name must exactly match the domain name for direct S3 hosting with Route 53 Alias records.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393192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57400"/>
            <a:ext cx="91440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031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couldn't see the S3 bucket endpoint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23317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1480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57400"/>
            <a:ext cx="9144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0312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using CloudFront as the origin instead of S3 directly — this also unlocks global caching.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393192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17520"/>
            <a:ext cx="91440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632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couldn't find the ACM certificate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32918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11480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9144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6324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Resolution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29184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certificates for CloudFront must be issued in us-east-1 (N. Virginia), regardless of where your resources are deployed.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393192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77640"/>
            <a:ext cx="91440" cy="8046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2336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519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nameservers from AWS Hosted Zone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7680" y="4251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754880" y="3977640"/>
            <a:ext cx="4114800" cy="804672"/>
          </a:xfrm>
          <a:prstGeom prst="rect">
            <a:avLst/>
          </a:prstGeom>
          <a:solidFill>
            <a:srgbClr val="E8F5E9"/>
          </a:solidFill>
          <a:ln w="127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977640"/>
            <a:ext cx="91440" cy="8046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02336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Resolution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25196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the 4 NS records from Route 53 Hosted Zone and replaced the nameservers at the domain registrar.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28032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Always use CloudFront in front of S3 — it decouples domain naming, adds HTTPS, and provides global caching.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18872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3716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Backend — Contact 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02920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38912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4389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88696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— Email Identity Verification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1615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verified two email identities in Amazon SES: one sender (noreply@domain.com) and one admin receiver. Required for sandbox mode.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502920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74520"/>
            <a:ext cx="438912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74520"/>
            <a:ext cx="4389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 (Node.js)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6771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 Lambda function that receives form data, constructs an email payload, and calls SES.sendEmail(). Used test-driven events to validate the function before connecting API Gateway.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502920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38912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4389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99008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REST Endpoint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31927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REST API with a POST /contact route. Enabled CORS so the front-end JavaScript (hosted on S3/CloudFront) can make cross-origin requests.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5029200" cy="91440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77640"/>
            <a:ext cx="438912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77640"/>
            <a:ext cx="4389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Pieces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37083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website's JavaScript uses an AJAX call on form submit → hits API Gateway → triggers Lambda → Lambda calls SES. Verified end-to-end with real form submission.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822960"/>
            <a:ext cx="329184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822960"/>
            <a:ext cx="32918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82296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Handler (Node.js) </a:t>
            </a:r>
            <a:r>
              <a:rPr lang="" altLang="en-US" sz="1000" dirty="0">
                <a:solidFill>
                  <a:srgbClr val="8B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Sample Code</a:t>
            </a:r>
            <a:endParaRPr lang="" altLang="en-US" sz="1000" dirty="0">
              <a:solidFill>
                <a:srgbClr val="8BA3B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69280" y="1261872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AWS = require('aws-sdk');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0" y="1412748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 = new AWS.SES();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0" y="1563624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1714500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exports.handler = async (event) =&gt; {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0" y="1865376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body = JSON.parse(event.body);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2016252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name, email } = body;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2167128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2318004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ses.sendEmail({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0" y="2468880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Destination: {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2619756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ToAddresses: [ADMIN_EMAIL]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0" y="2770632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2921508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{ Subject: {...},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0" y="3072384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{ Text: { Data: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0" y="3223260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`New lead: ${name} ${email}`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0" y="3374136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}}},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0" y="3525012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Source: SENDER_EMAIL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69280" y="3675888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}).promise();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69280" y="3826764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statusCode: 200 };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0" y="3977640"/>
            <a:ext cx="310896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8872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37160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— DynamoDB Integration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91440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075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1247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DynamoDB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435608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DynamoDB table to store lead capture data. Table includes fields for name, email, timestamp, and source.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11680"/>
            <a:ext cx="91440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677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0848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Inline Policy for Lambda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395728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inline policy to the Lambda execution role granting dynamodb:PutItem permission on the target table. Inline policy is preferred here — it's deleted automatically with the role.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91440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04495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Lambda Function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355848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the Lambda handler to call DynamoDB.putItem() with the contact details in addition to sending the SES email.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31920"/>
            <a:ext cx="91440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879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0507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315968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test forms and confirmed: (1) admin receives email via SES, (2) DynamoDB table is populated, (3) CloudWatch logs show both operations succeeded.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1051560"/>
            <a:ext cx="3291840" cy="2103120"/>
          </a:xfrm>
          <a:prstGeom prst="rect">
            <a:avLst/>
          </a:prstGeom>
          <a:solidFill>
            <a:srgbClr val="0F1B2D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1051560"/>
            <a:ext cx="32918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1430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Schema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1554480"/>
            <a:ext cx="3017520" cy="32004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554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1554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(PK)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0" y="155448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69280" y="1938528"/>
            <a:ext cx="3017520" cy="32004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193852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193852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2322576"/>
            <a:ext cx="3017520" cy="32004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32257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2322576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863840" y="2322576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69280" y="2706624"/>
            <a:ext cx="3017520" cy="32004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70662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0840" y="27066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63840" y="2706624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eBook / campaign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77840" y="3337560"/>
            <a:ext cx="3291840" cy="1463040"/>
          </a:xfrm>
          <a:prstGeom prst="rect">
            <a:avLst/>
          </a:prstGeom>
          <a:solidFill>
            <a:srgbClr val="0F1B2D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3337560"/>
            <a:ext cx="32918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342900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Inline Policy (Lambda Role)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0" y="3767328"/>
            <a:ext cx="30632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"Effect": "Allow",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69280" y="3959352"/>
            <a:ext cx="30632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"dynamodb:PutItem",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69280" y="4151376"/>
            <a:ext cx="30632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"arn:aws:dynamodb: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69280" y="4343400"/>
            <a:ext cx="30632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region:account:table/leads"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69280" y="4535424"/>
            <a:ext cx="306324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Monitoring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554480"/>
          </a:xfrm>
          <a:prstGeom prst="rect">
            <a:avLst/>
          </a:prstGeom>
          <a:solidFill>
            <a:srgbClr val="243B55"/>
          </a:solidFill>
          <a:ln w="25400">
            <a:solidFill>
              <a:srgbClr val="4FC3F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→ Backend → Data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41448" y="960120"/>
            <a:ext cx="2011680" cy="1554480"/>
          </a:xfrm>
          <a:prstGeom prst="rect">
            <a:avLst/>
          </a:prstGeom>
          <a:solidFill>
            <a:srgbClr val="243B55"/>
          </a:solidFill>
          <a:ln w="25400">
            <a:solidFill>
              <a:srgbClr val="FF9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051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41448" y="16916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41448" y="199339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CF, R53, ACM, GW, λ, SES, DB, CW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08576" y="960120"/>
            <a:ext cx="2011680" cy="1554480"/>
          </a:xfrm>
          <a:prstGeom prst="rect">
            <a:avLst/>
          </a:prstGeom>
          <a:solidFill>
            <a:srgbClr val="243B55"/>
          </a:solidFill>
          <a:ln w="254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051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08576" y="16916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Managed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08576" y="199339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 architecture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75704" y="960120"/>
            <a:ext cx="2011680" cy="1554480"/>
          </a:xfrm>
          <a:prstGeom prst="rect">
            <a:avLst/>
          </a:prstGeom>
          <a:solidFill>
            <a:srgbClr val="243B55"/>
          </a:solidFill>
          <a:ln w="25400">
            <a:solidFill>
              <a:srgbClr val="A78BF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75704" y="10515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75704" y="16916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Secured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75704" y="199339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+ CloudFront enforcement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8595360" cy="224028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78892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Verified End-to-End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eBook website live at custom domain with HTTPS (CloudFront + Route 53 + ACM)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submits successfully — AJAX → API Gateway → Lambda — with 200 response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7490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receives email notification via SES for every download request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(name, email, timestamp) stored in DynamoDB after each submission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 streams confirm Lambda executions from both test events and API Gateway calls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and CloudFront correctly handle GET requests; POST requests are handled by API Gateway only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91440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8092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production-grade serverless architecture on AWS. Starting from a plain HTML/CSS/JS eBook website, the solution progressively adds HTTPS delivery via CloudFront, serverless contact capture via Lambda + API Gateway, email notifications via SES, and persistent storage via DynamoDB — all without provisioning or managing any servers.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2651760" cy="25603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26517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488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S3 Bucket Policies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CloudFront CDN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Route 53 DNS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ACM TLS Certs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057400"/>
            <a:ext cx="2651760" cy="25603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057400"/>
            <a:ext cx="265176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1488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57860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Lambda (Node.js)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30175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Gateway REST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4564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CORS Configuration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895344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 Email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057400"/>
            <a:ext cx="2651760" cy="25603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057400"/>
            <a:ext cx="2651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1488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57860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DynamoDB NoSQL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301752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IAM Roles &amp; Policies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345643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CloudWatch Logs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3895344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Inline Policies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Tetteh  ·  AWS Cloud Project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7417</Words>
  <Application>WPS Presentation</Application>
  <PresentationFormat>On-screen Show (16:9)</PresentationFormat>
  <Paragraphs>464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DejaVu Sans</vt:lpstr>
      <vt:lpstr>微软雅黑</vt:lpstr>
      <vt:lpstr>Droid Sans Fallback</vt:lpstr>
      <vt:lpstr>Arial Unicode MS</vt:lpstr>
      <vt:lpstr>URW Bookman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Lead Capture on AWS</dc:title>
  <dc:creator>PptxGenJS</dc:creator>
  <dc:subject>PptxGenJS Presentation</dc:subject>
  <cp:lastModifiedBy>king</cp:lastModifiedBy>
  <cp:revision>9</cp:revision>
  <dcterms:created xsi:type="dcterms:W3CDTF">2026-02-21T03:08:46Z</dcterms:created>
  <dcterms:modified xsi:type="dcterms:W3CDTF">2026-02-21T03:08:46Z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